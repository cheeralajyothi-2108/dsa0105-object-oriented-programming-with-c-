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libri (MS)" panose="020F0502020204030204" pitchFamily="34" charset="0"/>
      <p:regular r:id="rId17"/>
    </p:embeddedFont>
    <p:embeddedFont>
      <p:font typeface="Calibri (MS) Bold"/>
      <p:regular r:id="rId18"/>
    </p:embeddedFont>
    <p:embeddedFont>
      <p:font typeface="Cambria" panose="02040503050406030204" pitchFamily="18" charset="0"/>
      <p:regular r:id="rId19"/>
    </p:embeddedFont>
    <p:embeddedFont>
      <p:font typeface="Cambria Bold" panose="02040803050406030204" pitchFamily="18" charset="0"/>
      <p:regular r:id="rId20"/>
    </p:embeddedFont>
    <p:embeddedFont>
      <p:font typeface="Times New Roman Bold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font" Target="fonts/font2.fntdata" /><Relationship Id="rId3" Type="http://schemas.openxmlformats.org/officeDocument/2006/relationships/slide" Target="slides/slide2.xml" /><Relationship Id="rId21" Type="http://schemas.openxmlformats.org/officeDocument/2006/relationships/font" Target="fonts/font5.fntdata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font" Target="fonts/font1.fntdata" /><Relationship Id="rId25" Type="http://schemas.openxmlformats.org/officeDocument/2006/relationships/tableStyles" Target="tableStyle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font" Target="fonts/font4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heme" Target="theme/theme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viewProps" Target="viewProps.xml" /><Relationship Id="rId10" Type="http://schemas.openxmlformats.org/officeDocument/2006/relationships/slide" Target="slides/slide9.xml" /><Relationship Id="rId19" Type="http://schemas.openxmlformats.org/officeDocument/2006/relationships/font" Target="fonts/font3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null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Layout" Target="../slideLayouts/slideLayout7.xml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jpe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jpe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5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6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5770" y="256222"/>
            <a:ext cx="17221143" cy="2215791"/>
            <a:chOff x="0" y="0"/>
            <a:chExt cx="22961524" cy="2954388"/>
          </a:xfrm>
        </p:grpSpPr>
        <p:sp>
          <p:nvSpPr>
            <p:cNvPr id="3" name="Freeform 3" descr="SIMATS ENGINEERING —BIOTECHNOLOGY"/>
            <p:cNvSpPr/>
            <p:nvPr/>
          </p:nvSpPr>
          <p:spPr>
            <a:xfrm>
              <a:off x="0" y="0"/>
              <a:ext cx="22961473" cy="2954401"/>
            </a:xfrm>
            <a:custGeom>
              <a:avLst/>
              <a:gdLst/>
              <a:ahLst/>
              <a:cxnLst/>
              <a:rect l="l" t="t" r="r" b="b"/>
              <a:pathLst>
                <a:path w="22961473" h="2954401">
                  <a:moveTo>
                    <a:pt x="0" y="0"/>
                  </a:moveTo>
                  <a:lnTo>
                    <a:pt x="22961473" y="0"/>
                  </a:lnTo>
                  <a:lnTo>
                    <a:pt x="22961473" y="2954401"/>
                  </a:lnTo>
                  <a:lnTo>
                    <a:pt x="0" y="2954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2279159" y="2759512"/>
            <a:ext cx="14014365" cy="2788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7"/>
              </a:lnSpc>
            </a:pPr>
            <a:r>
              <a:rPr lang="en-US" sz="57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CampusFlow: An Intelligent Campus Queue Management and Resource Allocation System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019952" y="5861842"/>
            <a:ext cx="10532780" cy="48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DSA0105A-OBJECT ORIENTED PROGRAMING WITH C++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790998" y="7724447"/>
            <a:ext cx="5468303" cy="2308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Guided by :</a:t>
            </a:r>
            <a:r>
              <a:rPr lang="en-IN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Mr.</a:t>
            </a: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JEGADEESH</a:t>
            </a:r>
            <a:r>
              <a:rPr lang="en-IN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</a:t>
            </a:r>
          </a:p>
          <a:p>
            <a:pPr algn="l">
              <a:lnSpc>
                <a:spcPts val="3600"/>
              </a:lnSpc>
            </a:pPr>
            <a:r>
              <a:rPr lang="en-IN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Industrial professional</a:t>
            </a:r>
          </a:p>
          <a:p>
            <a:pPr algn="l">
              <a:lnSpc>
                <a:spcPts val="3600"/>
              </a:lnSpc>
            </a:pPr>
            <a:r>
              <a:rPr lang="en-IN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Coimbatore </a:t>
            </a:r>
          </a:p>
          <a:p>
            <a:pPr algn="l">
              <a:lnSpc>
                <a:spcPts val="3600"/>
              </a:lnSpc>
            </a:pPr>
            <a:endParaRPr lang="en-IN" sz="3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3600"/>
              </a:lnSpc>
            </a:pPr>
            <a:endParaRPr lang="en-US" sz="30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713548" y="7105650"/>
            <a:ext cx="5554028" cy="2476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Presented by	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Cheerala Jyothi (192425312)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Anto Princy A (192411071)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 Dhana Sri (1925260062)</a:t>
            </a:r>
          </a:p>
          <a:p>
            <a:pPr algn="l">
              <a:lnSpc>
                <a:spcPts val="3240"/>
              </a:lnSpc>
            </a:pPr>
            <a:r>
              <a:rPr lang="en-US" sz="27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M.Sugiritha(192471020)</a:t>
            </a:r>
          </a:p>
          <a:p>
            <a:pPr algn="l">
              <a:lnSpc>
                <a:spcPts val="3240"/>
              </a:lnSpc>
            </a:pPr>
            <a:endParaRPr lang="en-US" sz="27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492740" y="2881770"/>
            <a:ext cx="7449649" cy="5209260"/>
          </a:xfrm>
          <a:custGeom>
            <a:avLst/>
            <a:gdLst/>
            <a:ahLst/>
            <a:cxnLst/>
            <a:rect l="l" t="t" r="r" b="b"/>
            <a:pathLst>
              <a:path w="7449649" h="5209260">
                <a:moveTo>
                  <a:pt x="0" y="0"/>
                </a:moveTo>
                <a:lnTo>
                  <a:pt x="7449649" y="0"/>
                </a:lnTo>
                <a:lnTo>
                  <a:pt x="7449649" y="5209260"/>
                </a:lnTo>
                <a:lnTo>
                  <a:pt x="0" y="52092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5063" t="-1584" b="-530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047837" y="958844"/>
            <a:ext cx="4192326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ABSTRACT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65860" y="2284513"/>
            <a:ext cx="9107331" cy="681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9782" lvl="1" indent="-439891" algn="l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CampusFlow is an intelligent system for managing campus queues and resources.</a:t>
            </a:r>
          </a:p>
          <a:p>
            <a:pPr marL="879782" lvl="1" indent="-439891" algn="l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Estimates student waiting times using queue and service data.</a:t>
            </a:r>
          </a:p>
          <a:p>
            <a:pPr marL="879782" lvl="1" indent="-439891" algn="l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Forecasts crowd congestion using historical demand patterns.</a:t>
            </a:r>
          </a:p>
          <a:p>
            <a:pPr marL="879782" lvl="1" indent="-439891" algn="l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Recommends suitable counters, staff, and available campus resources.</a:t>
            </a:r>
          </a:p>
          <a:p>
            <a:pPr marL="879782" lvl="1" indent="-439891" algn="l">
              <a:lnSpc>
                <a:spcPts val="4889"/>
              </a:lnSpc>
              <a:spcBef>
                <a:spcPct val="0"/>
              </a:spcBef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Provides dashboards and analytics to support efficient campus operations.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12986" y="1847079"/>
            <a:ext cx="9181210" cy="866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Students experience long queues at canteens and administrative offices.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Lack of real-time information makes waiting times unpredictable.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Uneven demand leads to overcrowded facilities and underutilized resources.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Manual resource allocation makes it difficult to respond to changing demand.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Existing basic token systems may not provide predictive analytics or resource recommendations.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  <a:endParaRPr lang="en-US" sz="4074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0015391" y="2538793"/>
            <a:ext cx="7589520" cy="5539549"/>
          </a:xfrm>
          <a:custGeom>
            <a:avLst/>
            <a:gdLst/>
            <a:ahLst/>
            <a:cxnLst/>
            <a:rect l="l" t="t" r="r" b="b"/>
            <a:pathLst>
              <a:path w="7589520" h="5539549">
                <a:moveTo>
                  <a:pt x="0" y="0"/>
                </a:moveTo>
                <a:lnTo>
                  <a:pt x="7589520" y="0"/>
                </a:lnTo>
                <a:lnTo>
                  <a:pt x="7589520" y="5539549"/>
                </a:lnTo>
                <a:lnTo>
                  <a:pt x="0" y="553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9486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4638725" y="355588"/>
            <a:ext cx="90105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885196" y="1000125"/>
            <a:ext cx="4517607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24012" y="2447925"/>
            <a:ext cx="14205917" cy="681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Develop a C++-based intelligent campus queue management system.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 waiting times and forecast future crowd congestion.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Optimize the allocation of counters, staff, and campus resources.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Provide real-time queue status and resource availability through a dashboard.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Evaluate system efficiency using prediction accuracy and resource utilization metrics.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  <a:endParaRPr lang="en-US" sz="4074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319782" y="1260463"/>
            <a:ext cx="7648436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SYSTEM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20711" y="2870835"/>
            <a:ext cx="14490538" cy="6191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Centralized platform for managing campus facilities, queues, and resources.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Digital token generation with queue-position tracking.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Waiting-time prediction using service duration and queue information.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Intelligent recommendations based on demand, availability, and capacity.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Analytics dashboard with congestion alerts and resource-allocation insights.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  <a:endParaRPr lang="en-US" sz="4074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24000">
            <a:off x="5273798" y="247407"/>
            <a:ext cx="11808991" cy="9806139"/>
          </a:xfrm>
          <a:custGeom>
            <a:avLst/>
            <a:gdLst/>
            <a:ahLst/>
            <a:cxnLst/>
            <a:rect l="l" t="t" r="r" b="b"/>
            <a:pathLst>
              <a:path w="11808991" h="9806139">
                <a:moveTo>
                  <a:pt x="0" y="81970"/>
                </a:moveTo>
                <a:lnTo>
                  <a:pt x="11741103" y="0"/>
                </a:lnTo>
                <a:lnTo>
                  <a:pt x="11808991" y="9724170"/>
                </a:lnTo>
                <a:lnTo>
                  <a:pt x="67889" y="9806139"/>
                </a:lnTo>
                <a:lnTo>
                  <a:pt x="0" y="81970"/>
                </a:lnTo>
                <a:close/>
              </a:path>
            </a:pathLst>
          </a:custGeom>
          <a:blipFill>
            <a:blip r:embed="rId4"/>
            <a:stretch>
              <a:fillRect l="-225" t="-10368" r="-6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00980" y="2750177"/>
            <a:ext cx="4659917" cy="240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51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Diagram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953841" y="485060"/>
            <a:ext cx="8380318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1: Campus Facility, User and Queue Management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0150" y="2218760"/>
            <a:ext cx="8066239" cy="7553890"/>
            <a:chOff x="0" y="0"/>
            <a:chExt cx="2124442" cy="19895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4442" cy="1989502"/>
            </a:xfrm>
            <a:custGeom>
              <a:avLst/>
              <a:gdLst/>
              <a:ahLst/>
              <a:cxnLst/>
              <a:rect l="l" t="t" r="r" b="b"/>
              <a:pathLst>
                <a:path w="2124442" h="1989502">
                  <a:moveTo>
                    <a:pt x="32633" y="0"/>
                  </a:moveTo>
                  <a:lnTo>
                    <a:pt x="2091809" y="0"/>
                  </a:lnTo>
                  <a:cubicBezTo>
                    <a:pt x="2109831" y="0"/>
                    <a:pt x="2124442" y="14610"/>
                    <a:pt x="2124442" y="32633"/>
                  </a:cubicBezTo>
                  <a:lnTo>
                    <a:pt x="2124442" y="1956869"/>
                  </a:lnTo>
                  <a:cubicBezTo>
                    <a:pt x="2124442" y="1974891"/>
                    <a:pt x="2109831" y="1989502"/>
                    <a:pt x="2091809" y="1989502"/>
                  </a:cubicBezTo>
                  <a:lnTo>
                    <a:pt x="32633" y="1989502"/>
                  </a:lnTo>
                  <a:cubicBezTo>
                    <a:pt x="14610" y="1989502"/>
                    <a:pt x="0" y="1974891"/>
                    <a:pt x="0" y="1956869"/>
                  </a:cubicBezTo>
                  <a:lnTo>
                    <a:pt x="0" y="32633"/>
                  </a:lnTo>
                  <a:cubicBezTo>
                    <a:pt x="0" y="14610"/>
                    <a:pt x="14610" y="0"/>
                    <a:pt x="32633" y="0"/>
                  </a:cubicBezTo>
                  <a:close/>
                </a:path>
              </a:pathLst>
            </a:custGeom>
            <a:solidFill>
              <a:srgbClr val="CFE8EF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24442" cy="2037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70150" y="2573655"/>
            <a:ext cx="7903599" cy="721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Manages student, staff, and administrator accounts.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Registers campus facilities, counters, and resource capacities.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Generates unique digital tokens for campus services.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Maintains queue order and tracks service status.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Stores user, facility, and queue records in MySQL.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95389" y="3328035"/>
            <a:ext cx="7053599" cy="519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User roles, facility type, queue length, token ID, service status.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Organized digital queues and centralized campus data management.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953841" y="485060"/>
            <a:ext cx="9193521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2: Waiting-Time Prediction and Crowd Forecasting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0150" y="2218760"/>
            <a:ext cx="8066239" cy="7553890"/>
            <a:chOff x="0" y="0"/>
            <a:chExt cx="2124442" cy="19895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4442" cy="1989502"/>
            </a:xfrm>
            <a:custGeom>
              <a:avLst/>
              <a:gdLst/>
              <a:ahLst/>
              <a:cxnLst/>
              <a:rect l="l" t="t" r="r" b="b"/>
              <a:pathLst>
                <a:path w="2124442" h="1989502">
                  <a:moveTo>
                    <a:pt x="32633" y="0"/>
                  </a:moveTo>
                  <a:lnTo>
                    <a:pt x="2091809" y="0"/>
                  </a:lnTo>
                  <a:cubicBezTo>
                    <a:pt x="2109831" y="0"/>
                    <a:pt x="2124442" y="14610"/>
                    <a:pt x="2124442" y="32633"/>
                  </a:cubicBezTo>
                  <a:lnTo>
                    <a:pt x="2124442" y="1956869"/>
                  </a:lnTo>
                  <a:cubicBezTo>
                    <a:pt x="2124442" y="1974891"/>
                    <a:pt x="2109831" y="1989502"/>
                    <a:pt x="2091809" y="1989502"/>
                  </a:cubicBezTo>
                  <a:lnTo>
                    <a:pt x="32633" y="1989502"/>
                  </a:lnTo>
                  <a:cubicBezTo>
                    <a:pt x="14610" y="1989502"/>
                    <a:pt x="0" y="1974891"/>
                    <a:pt x="0" y="1956869"/>
                  </a:cubicBezTo>
                  <a:lnTo>
                    <a:pt x="0" y="32633"/>
                  </a:lnTo>
                  <a:cubicBezTo>
                    <a:pt x="0" y="14610"/>
                    <a:pt x="14610" y="0"/>
                    <a:pt x="32633" y="0"/>
                  </a:cubicBezTo>
                  <a:close/>
                </a:path>
              </a:pathLst>
            </a:custGeom>
            <a:solidFill>
              <a:srgbClr val="FCFFD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24442" cy="2037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70150" y="2399347"/>
            <a:ext cx="8249210" cy="781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Estimates waiting time using queue length and service duration.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Calculates average service time from historical records.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Forecasts future demand over 15-, 30-, and 60-minute intervals.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Classifies congestion as Low, Moderate, High, or Critical.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Explains predictions using current queue and historical demand data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056379" y="3104404"/>
            <a:ext cx="7053599" cy="582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waiting, service duration, active counters, historical arrivals.</a:t>
            </a:r>
          </a:p>
          <a:p>
            <a:pPr algn="ctr">
              <a:lnSpc>
                <a:spcPts val="5039"/>
              </a:lnSpc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039"/>
              </a:lnSpc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039"/>
              </a:lnSpc>
            </a:pPr>
            <a:r>
              <a:rPr lang="en-US" sz="4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More predictable waiting times and early identification of congestion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953841" y="485060"/>
            <a:ext cx="9193521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3: Intelligent Resource Allocation and Scheduling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0150" y="2218760"/>
            <a:ext cx="8066239" cy="7553890"/>
            <a:chOff x="0" y="0"/>
            <a:chExt cx="2124442" cy="19895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4442" cy="1989502"/>
            </a:xfrm>
            <a:custGeom>
              <a:avLst/>
              <a:gdLst/>
              <a:ahLst/>
              <a:cxnLst/>
              <a:rect l="l" t="t" r="r" b="b"/>
              <a:pathLst>
                <a:path w="2124442" h="1989502">
                  <a:moveTo>
                    <a:pt x="32633" y="0"/>
                  </a:moveTo>
                  <a:lnTo>
                    <a:pt x="2091809" y="0"/>
                  </a:lnTo>
                  <a:cubicBezTo>
                    <a:pt x="2109831" y="0"/>
                    <a:pt x="2124442" y="14610"/>
                    <a:pt x="2124442" y="32633"/>
                  </a:cubicBezTo>
                  <a:lnTo>
                    <a:pt x="2124442" y="1956869"/>
                  </a:lnTo>
                  <a:cubicBezTo>
                    <a:pt x="2124442" y="1974891"/>
                    <a:pt x="2109831" y="1989502"/>
                    <a:pt x="2091809" y="1989502"/>
                  </a:cubicBezTo>
                  <a:lnTo>
                    <a:pt x="32633" y="1989502"/>
                  </a:lnTo>
                  <a:cubicBezTo>
                    <a:pt x="14610" y="1989502"/>
                    <a:pt x="0" y="1974891"/>
                    <a:pt x="0" y="1956869"/>
                  </a:cubicBezTo>
                  <a:lnTo>
                    <a:pt x="0" y="32633"/>
                  </a:lnTo>
                  <a:cubicBezTo>
                    <a:pt x="0" y="14610"/>
                    <a:pt x="14610" y="0"/>
                    <a:pt x="32633" y="0"/>
                  </a:cubicBezTo>
                  <a:close/>
                </a:path>
              </a:pathLst>
            </a:custGeom>
            <a:solidFill>
              <a:srgbClr val="DFFFD5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24442" cy="2037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370150" y="2562225"/>
            <a:ext cx="8249210" cy="721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Recommends less congested service counters.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Allocates staff and counters according to expected demand.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Tracks library seats, computers, and laboratory slots.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Prevents double bookings and resource-capacity violations.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Suggests alternative facilities or time slots when resources are unavailable.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95389" y="3032760"/>
            <a:ext cx="7053599" cy="646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Resource capacity, availability, staff count, expected demand, waiting-time target.</a:t>
            </a:r>
          </a:p>
          <a:p>
            <a:pPr algn="ctr">
              <a:lnSpc>
                <a:spcPts val="5039"/>
              </a:lnSpc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039"/>
              </a:lnSpc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039"/>
              </a:lnSpc>
            </a:pPr>
            <a:r>
              <a:rPr lang="en-US" sz="4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Better resource utilization and reduced avoidable waiting.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595591" y="555613"/>
            <a:ext cx="10799595" cy="1428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19"/>
              </a:lnSpc>
            </a:pPr>
            <a:r>
              <a:rPr lang="en-US" sz="45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4: Campus Analytics, Simulation and Performance Evaluation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370150" y="2218760"/>
            <a:ext cx="8066239" cy="7553890"/>
            <a:chOff x="0" y="0"/>
            <a:chExt cx="2124442" cy="19895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4442" cy="1989502"/>
            </a:xfrm>
            <a:custGeom>
              <a:avLst/>
              <a:gdLst/>
              <a:ahLst/>
              <a:cxnLst/>
              <a:rect l="l" t="t" r="r" b="b"/>
              <a:pathLst>
                <a:path w="2124442" h="1989502">
                  <a:moveTo>
                    <a:pt x="32633" y="0"/>
                  </a:moveTo>
                  <a:lnTo>
                    <a:pt x="2091809" y="0"/>
                  </a:lnTo>
                  <a:cubicBezTo>
                    <a:pt x="2109831" y="0"/>
                    <a:pt x="2124442" y="14610"/>
                    <a:pt x="2124442" y="32633"/>
                  </a:cubicBezTo>
                  <a:lnTo>
                    <a:pt x="2124442" y="1956869"/>
                  </a:lnTo>
                  <a:cubicBezTo>
                    <a:pt x="2124442" y="1974891"/>
                    <a:pt x="2109831" y="1989502"/>
                    <a:pt x="2091809" y="1989502"/>
                  </a:cubicBezTo>
                  <a:lnTo>
                    <a:pt x="32633" y="1989502"/>
                  </a:lnTo>
                  <a:cubicBezTo>
                    <a:pt x="14610" y="1989502"/>
                    <a:pt x="0" y="1974891"/>
                    <a:pt x="0" y="1956869"/>
                  </a:cubicBezTo>
                  <a:lnTo>
                    <a:pt x="0" y="32633"/>
                  </a:lnTo>
                  <a:cubicBezTo>
                    <a:pt x="0" y="14610"/>
                    <a:pt x="14610" y="0"/>
                    <a:pt x="32633" y="0"/>
                  </a:cubicBezTo>
                  <a:close/>
                </a:path>
              </a:pathLst>
            </a:custGeom>
            <a:solidFill>
              <a:srgbClr val="FFD5F7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124442" cy="2037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4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165860" y="2699385"/>
            <a:ext cx="8249210" cy="721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Displays queue status, estimated waits, and resource availability.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Generates historical facility and service reports.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Simulates changes such as adding counters or increasing staff.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Compares predicted waiting times with actual service results.</a:t>
            </a:r>
          </a:p>
          <a:p>
            <a:pPr marL="863599" lvl="1" indent="-431800" algn="l">
              <a:lnSpc>
                <a:spcPts val="4799"/>
              </a:lnSpc>
              <a:buFont typeface="Arial"/>
              <a:buChar char="•"/>
            </a:pPr>
            <a:r>
              <a:rPr lang="en-US" sz="3999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Evaluates queue correctness, prediction accuracy, and resource utilization.</a:t>
            </a:r>
          </a:p>
          <a:p>
            <a:pPr algn="l">
              <a:lnSpc>
                <a:spcPts val="4799"/>
              </a:lnSpc>
              <a:spcBef>
                <a:spcPct val="0"/>
              </a:spcBef>
            </a:pPr>
            <a:endParaRPr lang="en-US" sz="3999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995389" y="3032760"/>
            <a:ext cx="7053599" cy="582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4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Parameters: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Prediction error, average waiting time, utilization rate, response time.</a:t>
            </a:r>
          </a:p>
          <a:p>
            <a:pPr algn="ctr">
              <a:lnSpc>
                <a:spcPts val="5039"/>
              </a:lnSpc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039"/>
              </a:lnSpc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ctr">
              <a:lnSpc>
                <a:spcPts val="5039"/>
              </a:lnSpc>
            </a:pPr>
            <a:r>
              <a:rPr lang="en-US" sz="419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Outcome: </a:t>
            </a:r>
            <a:r>
              <a:rPr lang="en-US" sz="4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Data-driven campus management and measurable system performance.</a:t>
            </a:r>
          </a:p>
          <a:p>
            <a:pPr algn="ctr">
              <a:lnSpc>
                <a:spcPts val="5039"/>
              </a:lnSpc>
              <a:spcBef>
                <a:spcPct val="0"/>
              </a:spcBef>
            </a:pPr>
            <a:endParaRPr lang="en-US" sz="419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3210125" y="1716386"/>
            <a:ext cx="12137498" cy="8056264"/>
          </a:xfrm>
          <a:custGeom>
            <a:avLst/>
            <a:gdLst/>
            <a:ahLst/>
            <a:cxnLst/>
            <a:rect l="l" t="t" r="r" b="b"/>
            <a:pathLst>
              <a:path w="12137498" h="8056264">
                <a:moveTo>
                  <a:pt x="0" y="0"/>
                </a:moveTo>
                <a:lnTo>
                  <a:pt x="12137498" y="0"/>
                </a:lnTo>
                <a:lnTo>
                  <a:pt x="12137498" y="8056264"/>
                </a:lnTo>
                <a:lnTo>
                  <a:pt x="0" y="80562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817868" y="657225"/>
            <a:ext cx="6652263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SAMPLE OUTPUT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15955" y="1260463"/>
            <a:ext cx="565609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762759" y="2700338"/>
            <a:ext cx="12762483" cy="557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uncertainty about student waiting times.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Helps identify peak hours before congestion becomes severe.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Improves utilization of available staff and campus resources.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Reduces manual queue management and scheduling effort.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Supports transparent, data-driven campus decisions.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  <a:endParaRPr lang="en-US" sz="4074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685800"/>
            <a:ext cx="10972800" cy="603238"/>
            <a:chOff x="0" y="0"/>
            <a:chExt cx="14630400" cy="8043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630400" cy="804317"/>
            </a:xfrm>
            <a:custGeom>
              <a:avLst/>
              <a:gdLst/>
              <a:ahLst/>
              <a:cxnLst/>
              <a:rect l="l" t="t" r="r" b="b"/>
              <a:pathLst>
                <a:path w="14630400" h="804317">
                  <a:moveTo>
                    <a:pt x="0" y="0"/>
                  </a:moveTo>
                  <a:lnTo>
                    <a:pt x="14630400" y="0"/>
                  </a:lnTo>
                  <a:lnTo>
                    <a:pt x="14630400" y="804317"/>
                  </a:lnTo>
                  <a:lnTo>
                    <a:pt x="0" y="80431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955" b="-299904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630400" cy="8328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4800600"/>
            <a:ext cx="685800" cy="685800"/>
            <a:chOff x="0" y="0"/>
            <a:chExt cx="91440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5966460"/>
            <a:ext cx="685800" cy="685800"/>
            <a:chOff x="0" y="0"/>
            <a:chExt cx="914400" cy="91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r="-78303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315955" y="1260463"/>
            <a:ext cx="565609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99"/>
              </a:lnSpc>
            </a:pPr>
            <a:r>
              <a:rPr lang="en-US" sz="5999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177" y="2561272"/>
            <a:ext cx="13819646" cy="6810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CampusFlow integrates queue management, prediction, and resource allocation.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C++ algorithms support efficient queue processing and decision-making.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Historical data enables demand forecasting and performance evaluation.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dashboard improves visibility into campus services and availability.</a:t>
            </a:r>
          </a:p>
          <a:p>
            <a:pPr marL="879782" lvl="1" indent="-439891" algn="l">
              <a:lnSpc>
                <a:spcPts val="4889"/>
              </a:lnSpc>
              <a:buFont typeface="Arial"/>
              <a:buChar char="•"/>
            </a:pPr>
            <a:r>
              <a:rPr lang="en-US" sz="4074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The system has the potential to improve campus service efficiency through measurable, data-driven optimization.</a:t>
            </a:r>
          </a:p>
          <a:p>
            <a:pPr algn="l">
              <a:lnSpc>
                <a:spcPts val="4889"/>
              </a:lnSpc>
              <a:spcBef>
                <a:spcPct val="0"/>
              </a:spcBef>
            </a:pPr>
            <a:endParaRPr lang="en-US" sz="4074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60111" y="3257550"/>
            <a:ext cx="12255698" cy="3362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78"/>
              </a:lnSpc>
              <a:spcBef>
                <a:spcPct val="0"/>
              </a:spcBef>
            </a:pPr>
            <a:r>
              <a:rPr lang="en-US" sz="19398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PRESENTATION1.pptx</dc:title>
  <cp:lastModifiedBy>Jyothi Cheerala</cp:lastModifiedBy>
  <cp:revision>2</cp:revision>
  <dcterms:created xsi:type="dcterms:W3CDTF">2006-08-16T00:00:00Z</dcterms:created>
  <dcterms:modified xsi:type="dcterms:W3CDTF">2026-10-23T03:16:58Z</dcterms:modified>
  <dc:identifier>DAHUM4rzjRA</dc:identifier>
</cp:coreProperties>
</file>